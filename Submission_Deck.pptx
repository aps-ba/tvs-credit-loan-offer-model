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481328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DDC7B"/>
                </a:solidFill>
                <a:latin typeface="Segoe UI"/>
              </a:rPr>
              <a:t>CASE STUDY 2</a:t>
            </a:r>
            <a:r>
              <a:rPr sz="1200" b="1" i="0">
                <a:solidFill>
                  <a:srgbClr val="C7D3E8"/>
                </a:solidFill>
                <a:latin typeface="Segoe UI"/>
              </a:rPr>
              <a:t>   -   OFFER AMOUNT GENERATION FOR PERSONAL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883664"/>
            <a:ext cx="7863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Segoe UI"/>
              </a:rPr>
              <a:t>Affordability,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3DDC7B"/>
                </a:solidFill>
                <a:latin typeface="Segoe UI"/>
              </a:rPr>
              <a:t>not just eligibility.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75887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7D3E8"/>
                </a:solidFill>
                <a:latin typeface="Segoe UI"/>
              </a:rPr>
              <a:t>Re-sizing the personal-loan offer on what the customer has already proved.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315968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431596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80.9%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 OF OFFERS EXCEED PROVEN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0168" y="4315968"/>
            <a:ext cx="239572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8184" y="4315968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8338"/>
                </a:solidFill>
                <a:latin typeface="Segoe UI"/>
              </a:rPr>
              <a:t>89.6 / 100</a:t>
            </a:r>
            <a:r>
              <a:rPr sz="900" b="1" i="0">
                <a:solidFill>
                  <a:srgbClr val="4B5B75"/>
                </a:solidFill>
                <a:latin typeface="Segoe UI"/>
              </a:rPr>
              <a:t>  brief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4315968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315968"/>
            <a:ext cx="18470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Segoe UI"/>
              </a:rPr>
              <a:t>60.0</a:t>
            </a:r>
            <a:r>
              <a:rPr sz="900" b="1" i="0">
                <a:solidFill>
                  <a:srgbClr val="4B5B75"/>
                </a:solidFill>
                <a:latin typeface="Segoe UI"/>
              </a:rPr>
              <a:t>  incumbent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04748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7D3E8"/>
                </a:solidFill>
                <a:latin typeface="Segoe UI"/>
              </a:rPr>
              <a:t>TVS Credit EPIC 8  ·  Analytics / Data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6309360"/>
            <a:ext cx="4690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AFFORDABILITY, NOT JUST ELIGIBILITY.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D3E8"/>
                </a:solidFill>
                <a:latin typeface="Segoe UI"/>
              </a:rPr>
              <a:t>Size the offer to what the customer has already proved.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D1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"/>
            <a:ext cx="6583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TVS CREDIT</a:t>
            </a:r>
            <a:r>
              <a:rPr sz="1100" b="0" i="0">
                <a:solidFill>
                  <a:srgbClr val="C7D3E8"/>
                </a:solidFill>
                <a:latin typeface="Segoe UI"/>
              </a:rPr>
              <a:t>   EPIC 8</a:t>
            </a:r>
            <a:r>
              <a:rPr sz="1100" b="1" i="0">
                <a:solidFill>
                  <a:srgbClr val="3DDC7B"/>
                </a:solidFill>
                <a:latin typeface="Segoe UI"/>
              </a:rPr>
              <a:t>   CASE STUDY 2</a:t>
            </a:r>
            <a:r>
              <a:rPr sz="950" b="0" i="0">
                <a:solidFill>
                  <a:srgbClr val="C7D3E8"/>
                </a:solidFill>
                <a:latin typeface="Segoe UI"/>
              </a:rPr>
              <a:t>   |   OFFER AMOUNT GENERATION FOR PERSONAL LOANS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82296"/>
            <a:ext cx="4599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7D3E8"/>
                </a:solidFill>
                <a:latin typeface="Segoe UI"/>
              </a:rPr>
              <a:t>ANALYTICS / DATA TRACK   ·   </a:t>
            </a:r>
            <a:r>
              <a:rPr sz="900" b="1" i="0">
                <a:solidFill>
                  <a:srgbClr val="3DDC7B"/>
                </a:solidFill>
                <a:latin typeface="Segoe UI"/>
              </a:rPr>
              <a:t>AFFORDABILITY, NOT JUST ELIGIBILITY.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1206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12064"/>
            <a:ext cx="1691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DIAGNOSIS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1427" y="512064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2868" y="512064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COHORT SEGMENTATION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51206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512064"/>
            <a:ext cx="1691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A34A"/>
                </a:solidFill>
                <a:latin typeface="Segoe UI"/>
              </a:rPr>
              <a:t>3</a:t>
            </a:r>
            <a:r>
              <a:rPr sz="1000" b="1" i="0">
                <a:solidFill>
                  <a:srgbClr val="4B5B75"/>
                </a:solidFill>
                <a:latin typeface="Segoe UI"/>
              </a:rPr>
              <a:t>   THE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7164" y="512064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8604" y="512064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A34A"/>
                </a:solidFill>
                <a:latin typeface="Segoe UI"/>
              </a:rPr>
              <a:t>4</a:t>
            </a:r>
            <a:r>
              <a:rPr sz="1000" b="1" i="0">
                <a:solidFill>
                  <a:srgbClr val="4B5B75"/>
                </a:solidFill>
                <a:latin typeface="Segoe UI"/>
              </a:rPr>
              <a:t>   IMPACT &amp;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859536"/>
            <a:ext cx="11640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326B"/>
                </a:solidFill>
                <a:latin typeface="Segoe UI"/>
              </a:rPr>
              <a:t>The offer grid over-lends to customers who cannot carry it, and under-lends to customers who can.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170432"/>
            <a:ext cx="11640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B75"/>
                </a:solidFill>
                <a:latin typeface="Segoe UI"/>
              </a:rPr>
              <a:t>TVS Credit sizes the personal-loan offer on eligibility bands. Measured against what each customer has demonstrably repaid,</a:t>
            </a:r>
            <a:r>
              <a:rPr sz="1000" b="0" i="0">
                <a:solidFill>
                  <a:srgbClr val="4B5B75"/>
                </a:solidFill>
                <a:latin typeface="Segoe UI"/>
              </a:rPr>
              <a:t>  the grid is inverted, and both symptoms in the brief fall out of that one fact.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517904"/>
            <a:ext cx="187451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57276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326B"/>
                </a:solidFill>
                <a:latin typeface="Segoe UI"/>
              </a:rPr>
              <a:t>157,557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84708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customer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7478" y="1517904"/>
            <a:ext cx="187451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27478" y="1517904"/>
            <a:ext cx="1874519" cy="4572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8918" y="157276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233"/>
                </a:solidFill>
                <a:latin typeface="Segoe UI"/>
              </a:rP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8918" y="184708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fields  ·  114 usable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0636" y="1517904"/>
            <a:ext cx="187451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0636" y="1517904"/>
            <a:ext cx="187451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2076" y="157276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233"/>
                </a:solidFill>
                <a:latin typeface="Segoe U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2076" y="184708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fields barred by the data dictionary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3795" y="1517904"/>
            <a:ext cx="187451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33795" y="1517904"/>
            <a:ext cx="1874519" cy="457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5235" y="157276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233"/>
                </a:solidFill>
                <a:latin typeface="Segoe UI"/>
              </a:rPr>
              <a:t>16,621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5235" y="184708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build cohort  (TEST · disbursed)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6953" y="1517904"/>
            <a:ext cx="187451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86953" y="1517904"/>
            <a:ext cx="1874519" cy="457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8393" y="157276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233"/>
                </a:solidFill>
                <a:latin typeface="Segoe UI"/>
              </a:rPr>
              <a:t>5,203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8393" y="184708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holdout cohort  (VALIDATION · disbursed)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1" y="1517904"/>
            <a:ext cx="187451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40111" y="1517904"/>
            <a:ext cx="1874519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31551" y="157276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233"/>
                </a:solidFill>
                <a:latin typeface="Segoe UI"/>
              </a:rPr>
              <a:t>1.30%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1551" y="1847088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base delinquency rate  ·  288 events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103120"/>
            <a:ext cx="3831336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2103120"/>
            <a:ext cx="383133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107691"/>
            <a:ext cx="3611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THE SYMPTOMS IN THE BRIEF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" y="2468879"/>
            <a:ext cx="35753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392B"/>
                </a:solidFill>
                <a:latin typeface="Segoe UI"/>
              </a:rPr>
              <a:t>SYMPTOM 1  ·  “THE AMOUNT IS TOO LOW”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" y="2633472"/>
            <a:ext cx="35753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Segoe UI"/>
              </a:rPr>
              <a:t>808</a:t>
            </a:r>
            <a:r>
              <a:rPr sz="800" b="0" i="0">
                <a:solidFill>
                  <a:srgbClr val="1A2233"/>
                </a:solidFill>
                <a:latin typeface="Segoe UI"/>
              </a:rPr>
              <a:t>  customers (627 in build) carry the remark “Require Higher Loan Amount”. Same demonstrated EMI capacity as the base: ₹31,652 vs ₹30,996. Offer 7% lower, 0% converted.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" y="3182111"/>
            <a:ext cx="35753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392B"/>
                </a:solidFill>
                <a:latin typeface="Segoe UI"/>
              </a:rPr>
              <a:t>SYMPTOM 2  ·  THE LARGEST OFFERS LEAK</a:t>
            </a:r>
          </a:p>
        </p:txBody>
      </p:sp>
      <p:pic>
        <p:nvPicPr>
          <p:cNvPr id="47" name="Picture 46" descr="chart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3346704"/>
            <a:ext cx="2852928" cy="53035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02336" y="3895344"/>
            <a:ext cx="3575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Off-us take-up climbs 1.1% → 7.1% as the offer grows. At the top band, a third of everyone who borrowed, borrowed elsewhere.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8808" y="2103120"/>
            <a:ext cx="3831336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78808" y="2103120"/>
            <a:ext cx="3831336" cy="2743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8536" y="2107691"/>
            <a:ext cx="3611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THE DIAGNOSTIC  ·  AFFORDABILITY COVERAGE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6824" y="2450591"/>
            <a:ext cx="3575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B75"/>
                </a:solidFill>
                <a:latin typeface="Segoe UI"/>
              </a:rPr>
              <a:t>Offer ÷ (demonstrated EMI headroom × annuity factor 25.49), median by headroom quintile</a:t>
            </a:r>
          </a:p>
        </p:txBody>
      </p:sp>
      <p:pic>
        <p:nvPicPr>
          <p:cNvPr id="53" name="Picture 52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706624"/>
            <a:ext cx="3575304" cy="649224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4306824" y="3410711"/>
            <a:ext cx="357530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16552" y="3465576"/>
            <a:ext cx="335584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80.9% of offers exceed proven capacity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BECEA"/>
                </a:solidFill>
                <a:latin typeface="Segoe UI"/>
              </a:rPr>
              <a:t>99.9% in the lowest-capacity quintile, 25.5% in the highest. The grid is inverted.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3296" y="2103120"/>
            <a:ext cx="3831336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83296" y="2103120"/>
            <a:ext cx="3831336" cy="27432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3024" y="2107691"/>
            <a:ext cx="3611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WHAT THE OFFER RESPONDS 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2450591"/>
            <a:ext cx="357530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B5B75"/>
                </a:solidFill>
                <a:latin typeface="Segoe UI"/>
              </a:rPr>
              <a:t>Average offer by bureau risk grade  ·  a 2.6x spread</a:t>
            </a:r>
          </a:p>
        </p:txBody>
      </p:sp>
      <p:pic>
        <p:nvPicPr>
          <p:cNvPr id="60" name="Picture 59" descr="chart_gr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2596896"/>
            <a:ext cx="2743200" cy="61264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211312" y="3255263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Largest prior personal loan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2720" y="3287268"/>
            <a:ext cx="868680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37976" y="3255263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0.328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1312" y="3360420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External bureau risk score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32720" y="3392424"/>
            <a:ext cx="831602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00898" y="3360420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0.314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11312" y="3465575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Total outstanding balance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332720" y="3497579"/>
            <a:ext cx="746852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16148" y="3465575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0.282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11312" y="3570732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Demonstrated EMI capacity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32720" y="3602736"/>
            <a:ext cx="439636" cy="4572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08932" y="3570732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0.166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1312" y="3675887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Total live EMI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32720" y="3707891"/>
            <a:ext cx="399910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69206" y="3675887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0.151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1312" y="3781044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Live EMI obligation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32720" y="3813048"/>
            <a:ext cx="368129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37425" y="3781044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0.139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1312" y="3886200"/>
            <a:ext cx="21031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4B5B75"/>
                </a:solidFill>
                <a:latin typeface="Segoe UI"/>
              </a:rPr>
              <a:t>Bureau income proxy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20" y="3918204"/>
            <a:ext cx="103288" cy="4572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72584" y="3886200"/>
            <a:ext cx="411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0.039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11312" y="4005071"/>
            <a:ext cx="3575304" cy="155448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21040" y="4005071"/>
            <a:ext cx="33558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It prices the past. It does not price the capacity.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187952"/>
            <a:ext cx="11640312" cy="2743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4048" y="418795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DDC7B"/>
                </a:solidFill>
                <a:latin typeface="Segoe UI"/>
              </a:rPr>
              <a:t>4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COHORT SEGMENTATION  ·  FOUR GROUPS THE CURRENT GRID CANNOT TELL APART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0" y="418795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7D3E8"/>
                </a:solidFill>
                <a:latin typeface="Segoe UI"/>
              </a:rPr>
              <a:t>build cohort, n = 119,989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480560"/>
            <a:ext cx="28300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4320" y="4480560"/>
            <a:ext cx="2830068" cy="4572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74320" y="45445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45445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" y="4562856"/>
            <a:ext cx="237286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A34A"/>
                </a:solidFill>
                <a:latin typeface="Segoe UI"/>
              </a:rPr>
              <a:t>PROVEN, UNDER-OFFERED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4727448"/>
            <a:ext cx="23728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14,904  ·  12.4%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" y="488289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Avg offer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" y="488289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₹2,06,121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5004511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Headroom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9264" y="5004511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₹17,524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4048" y="512612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Coverage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9264" y="512612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0.51x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09928" y="4882896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Off-us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95727" y="4882896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6.5%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09928" y="5004511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30+ DPD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95727" y="5004511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0.74%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4048" y="5285232"/>
            <a:ext cx="2610612" cy="164592"/>
          </a:xfrm>
          <a:prstGeom prst="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5285232"/>
            <a:ext cx="24643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A34A"/>
                </a:solidFill>
                <a:latin typeface="Segoe UI"/>
              </a:rPr>
              <a:t>RAISE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   Safest and most capable. Leaks hardest.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86684" y="4480560"/>
            <a:ext cx="28300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186684" y="4480560"/>
            <a:ext cx="283006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186684" y="45445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86684" y="45445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70732" y="4562856"/>
            <a:ext cx="237286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0392B"/>
                </a:solidFill>
                <a:latin typeface="Segoe UI"/>
              </a:rPr>
              <a:t>OVER-EXTENDED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70732" y="4727448"/>
            <a:ext cx="23728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34,721  ·  28.9%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96412" y="488289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Avg offer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81628" y="488289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₹2,07,450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96412" y="5004511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Headroom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81628" y="5004511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₹2,000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96412" y="512612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Coverage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81628" y="512612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3.02x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22292" y="4882896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Off-us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08092" y="4882896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4.7%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22292" y="5004511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30+ DPD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08092" y="5004511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1.27%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96412" y="5285232"/>
            <a:ext cx="2610612" cy="164592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69564" y="5285232"/>
            <a:ext cx="24643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392B"/>
                </a:solidFill>
                <a:latin typeface="Segoe UI"/>
              </a:rPr>
              <a:t>CUT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   Same offer as A, 8.8x less capacity.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099048" y="4480560"/>
            <a:ext cx="28300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099048" y="4480560"/>
            <a:ext cx="2830068" cy="45720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6099048" y="45445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099048" y="45445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83096" y="4562856"/>
            <a:ext cx="237286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930C"/>
                </a:solidFill>
                <a:latin typeface="Segoe UI"/>
              </a:rPr>
              <a:t>NO CAPACITY SIGNAL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83096" y="4727448"/>
            <a:ext cx="23728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42,105  ·  35.1%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08776" y="488289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Avg offer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93992" y="488289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₹1,60,357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08776" y="5004511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Headroom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793992" y="5004511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08776" y="512612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Coverage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93992" y="512612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-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34656" y="4882896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Off-us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0456" y="4882896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3.1%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534656" y="5004511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30+ DPD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20456" y="5004511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1.41%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08776" y="5285232"/>
            <a:ext cx="2610612" cy="164592"/>
          </a:xfrm>
          <a:prstGeom prst="rect">
            <a:avLst/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81928" y="5285232"/>
            <a:ext cx="24643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8930C"/>
                </a:solidFill>
                <a:latin typeface="Segoe UI"/>
              </a:rPr>
              <a:t>HOLD, THEN INSTRUMENT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   No EMI history yet.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011412" y="4480560"/>
            <a:ext cx="28300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11412" y="4480560"/>
            <a:ext cx="2830068" cy="457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011412" y="45445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011412" y="45445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95460" y="4562856"/>
            <a:ext cx="237286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326B"/>
                </a:solidFill>
                <a:latin typeface="Segoe UI"/>
              </a:rPr>
              <a:t>BROADLY ALIGNED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395460" y="4727448"/>
            <a:ext cx="23728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28,259  ·  23.6%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21140" y="488289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Avg offer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06356" y="488289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₹1,53,931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21140" y="5004511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Headroom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06356" y="5004511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₹3,310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21140" y="5126126"/>
            <a:ext cx="5669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Coverage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06356" y="5126126"/>
            <a:ext cx="72237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1.53x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47019" y="4882896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Off-us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132820" y="4882896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4.1%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447019" y="5004511"/>
            <a:ext cx="65836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A94A6"/>
                </a:solidFill>
                <a:latin typeface="Segoe UI"/>
              </a:rPr>
              <a:t>30+ DPD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132820" y="5004511"/>
            <a:ext cx="61264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A2233"/>
                </a:solidFill>
                <a:latin typeface="Segoe UI"/>
              </a:rPr>
              <a:t>1.44%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121140" y="5285232"/>
            <a:ext cx="2610612" cy="164592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194292" y="5285232"/>
            <a:ext cx="24643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6326B"/>
                </a:solidFill>
                <a:latin typeface="Segoe UI"/>
              </a:rPr>
              <a:t>TRIM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   Mildly over-offered.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4320" y="5541264"/>
            <a:ext cx="301752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5760" y="5541264"/>
            <a:ext cx="283463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FACT (TVS DATA)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364992" y="5541264"/>
            <a:ext cx="3246120" cy="201168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456432" y="5541264"/>
            <a:ext cx="306323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WHAT IT MEANS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84264" y="5541264"/>
            <a:ext cx="5230368" cy="201168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75703" y="5541264"/>
            <a:ext cx="504748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WHAT TVS SHOULD DO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" y="5760720"/>
            <a:ext cx="116403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5760" y="5774436"/>
            <a:ext cx="28346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80.9% of offers exceed proven capacity; 3.89x median coverage in the lowest-capacity quintile.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456432" y="5774436"/>
            <a:ext cx="30632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The grid asks "is this customer eligible?" It never asks "what can this customer carry?"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775703" y="5774436"/>
            <a:ext cx="5047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Re-anchor on demonstrated EMI headroom, converted to principal at a stated annuity factor.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74320" y="6025896"/>
            <a:ext cx="11640312" cy="256032"/>
          </a:xfrm>
          <a:prstGeom prst="rect">
            <a:avLst/>
          </a:prstGeom>
          <a:solidFill>
            <a:srgbClr val="EAF0F9"/>
          </a:solidFill>
          <a:ln w="635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5760" y="6039612"/>
            <a:ext cx="28346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Cohorts A and B get the same offer on 8.8x different capacity. A leaks off-us at 6.5%; B runs 1.7x A’s delinquency.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56432" y="6039612"/>
            <a:ext cx="30632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One number is doing two jobs badly. The safest customers are the ones walking.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775703" y="6039612"/>
            <a:ext cx="5047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Split the two with a risk score, then move rupees from B to A. Nothing new is spent.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74320" y="6291072"/>
            <a:ext cx="116403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65760" y="6304788"/>
            <a:ext cx="28346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808 customers asked for more, hold the same proven capacity as the base, and converted at 0.0%.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456432" y="6304788"/>
            <a:ext cx="30632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Serviceable demand is being turned away at the top of the capacity distribution.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775703" y="6304788"/>
            <a:ext cx="5047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Redistribute the existing book: raise where capacity is proven, cut where it is not.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9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74320" y="6615684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SOURCE: epic_challenge_base_final_shared2.xlsb, 157,557 rows × 128 fields. Diagnostic on the build cohort BASE_TYPE=TEST, n = 119,989; coverage on the 77,884 customers with positive EMI headroom; segment delinquency on disbursed accounts only. CALCULATION (ours): coverage = offer ÷ (headroom × 25.49); cohorts defined as A coverage &lt;1.0, B ≥2.0, D between, C no headroom. ASSUMPTION (ours): annuity factor at 24% p.a. over 36 months; every result holds across 20-28% p.a. and 24-48 months.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424160" y="6615684"/>
            <a:ext cx="14904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PAGE 1 OF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D1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"/>
            <a:ext cx="6583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TVS CREDIT</a:t>
            </a:r>
            <a:r>
              <a:rPr sz="1100" b="0" i="0">
                <a:solidFill>
                  <a:srgbClr val="C7D3E8"/>
                </a:solidFill>
                <a:latin typeface="Segoe UI"/>
              </a:rPr>
              <a:t>   EPIC 8</a:t>
            </a:r>
            <a:r>
              <a:rPr sz="1100" b="1" i="0">
                <a:solidFill>
                  <a:srgbClr val="3DDC7B"/>
                </a:solidFill>
                <a:latin typeface="Segoe UI"/>
              </a:rPr>
              <a:t>   CASE STUDY 2</a:t>
            </a:r>
            <a:r>
              <a:rPr sz="950" b="0" i="0">
                <a:solidFill>
                  <a:srgbClr val="C7D3E8"/>
                </a:solidFill>
                <a:latin typeface="Segoe UI"/>
              </a:rPr>
              <a:t>   |   OFFER AMOUNT GENERATION FOR PERSONAL LOANS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82296"/>
            <a:ext cx="4599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7D3E8"/>
                </a:solidFill>
                <a:latin typeface="Segoe UI"/>
              </a:rPr>
              <a:t>ANALYTICS / DATA TRACK   ·   </a:t>
            </a:r>
            <a:r>
              <a:rPr sz="900" b="1" i="0">
                <a:solidFill>
                  <a:srgbClr val="3DDC7B"/>
                </a:solidFill>
                <a:latin typeface="Segoe UI"/>
              </a:rPr>
              <a:t>AFFORDABILITY, NOT JUST ELIGIBILITY.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1206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12064"/>
            <a:ext cx="1691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DIAGNOSIS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1427" y="512064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2868" y="512064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COHORT SEGMENTATION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512064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512064"/>
            <a:ext cx="1691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THE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7164" y="512064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8604" y="512064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   IMPACT &amp;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859536"/>
            <a:ext cx="116403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326B"/>
                </a:solidFill>
                <a:latin typeface="Segoe UI"/>
              </a:rPr>
              <a:t>Re-anchor on demonstrated capacity, modulate by risk, and move the rupees from B to 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170432"/>
            <a:ext cx="1164031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B75"/>
                </a:solidFill>
                <a:latin typeface="Segoe UI"/>
              </a:rPr>
              <a:t>Same book in aggregate: ₹2,138 Cr to ₹2,169 Cr, +1.5%. Cohort A up 74%, cohort B down 21%.</a:t>
            </a:r>
            <a:r>
              <a:rPr sz="1000" b="0" i="0">
                <a:solidFill>
                  <a:srgbClr val="4B5B75"/>
                </a:solidFill>
                <a:latin typeface="Segoe UI"/>
              </a:rPr>
              <a:t>  89.6 out of 100 on the brief’s metric against 60.0 for the incumbent logic.</a:t>
            </a:r>
          </a:p>
        </p:txBody>
      </p:sp>
      <p:sp>
        <p:nvSpPr>
          <p:cNvPr id="18" name="Chevron 17"/>
          <p:cNvSpPr/>
          <p:nvPr/>
        </p:nvSpPr>
        <p:spPr>
          <a:xfrm>
            <a:off x="274320" y="1517904"/>
            <a:ext cx="2368296" cy="914400"/>
          </a:xfrm>
          <a:prstGeom prst="chevron">
            <a:avLst>
              <a:gd name="adj" fmla="val 32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databas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3" y="1572768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" y="1591056"/>
            <a:ext cx="1947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3" y="1810512"/>
            <a:ext cx="1874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7D3E8"/>
                </a:solidFill>
                <a:latin typeface="Segoe UI"/>
              </a:rPr>
              <a:t>Bureau depth, enquiry velocity, EMI history, on-us holding, propensity bands</a:t>
            </a:r>
          </a:p>
        </p:txBody>
      </p:sp>
      <p:sp>
        <p:nvSpPr>
          <p:cNvPr id="22" name="Chevron 21"/>
          <p:cNvSpPr/>
          <p:nvPr/>
        </p:nvSpPr>
        <p:spPr>
          <a:xfrm>
            <a:off x="2619756" y="1517904"/>
            <a:ext cx="2368296" cy="914400"/>
          </a:xfrm>
          <a:prstGeom prst="chevron">
            <a:avLst>
              <a:gd name="adj" fmla="val 32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_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1572768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22092" y="1591056"/>
            <a:ext cx="1947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RISK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6060" y="1810512"/>
            <a:ext cx="1874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7D3E8"/>
                </a:solidFill>
                <a:latin typeface="Segoe UI"/>
              </a:rPr>
              <a:t>LightGBM on 30+ DPD in first 6 MOB. Output is a percentile, not a probability</a:t>
            </a:r>
          </a:p>
        </p:txBody>
      </p:sp>
      <p:sp>
        <p:nvSpPr>
          <p:cNvPr id="26" name="Chevron 25"/>
          <p:cNvSpPr/>
          <p:nvPr/>
        </p:nvSpPr>
        <p:spPr>
          <a:xfrm>
            <a:off x="4965192" y="1517904"/>
            <a:ext cx="2368296" cy="914400"/>
          </a:xfrm>
          <a:prstGeom prst="chevron">
            <a:avLst>
              <a:gd name="adj" fmla="val 32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_wall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572768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67528" y="1591056"/>
            <a:ext cx="1947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AFFORDABILITY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1810512"/>
            <a:ext cx="1874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7D3E8"/>
                </a:solidFill>
                <a:latin typeface="Segoe UI"/>
              </a:rPr>
              <a:t>Max EMI ever serviced less live EMI, × 25.49 → principal ceiling</a:t>
            </a:r>
          </a:p>
        </p:txBody>
      </p:sp>
      <p:sp>
        <p:nvSpPr>
          <p:cNvPr id="30" name="Chevron 29"/>
          <p:cNvSpPr/>
          <p:nvPr/>
        </p:nvSpPr>
        <p:spPr>
          <a:xfrm>
            <a:off x="7310628" y="1517904"/>
            <a:ext cx="2368296" cy="914400"/>
          </a:xfrm>
          <a:prstGeom prst="chevron">
            <a:avLst>
              <a:gd name="adj" fmla="val 32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coin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932" y="1572768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12964" y="1591056"/>
            <a:ext cx="1947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OFFER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6932" y="1810512"/>
            <a:ext cx="1874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7D3E8"/>
                </a:solidFill>
                <a:latin typeface="Segoe UI"/>
              </a:rPr>
              <a:t>clip[(0.75×incumbent + 0.25×capacity)×m, ₹40k, ₹6L]; m = 0.30+1.25×(1−risk pct)</a:t>
            </a:r>
          </a:p>
        </p:txBody>
      </p:sp>
      <p:sp>
        <p:nvSpPr>
          <p:cNvPr id="34" name="Chevron 33"/>
          <p:cNvSpPr/>
          <p:nvPr/>
        </p:nvSpPr>
        <p:spPr>
          <a:xfrm>
            <a:off x="9656064" y="1517904"/>
            <a:ext cx="2368296" cy="914400"/>
          </a:xfrm>
          <a:prstGeom prst="chevron">
            <a:avLst>
              <a:gd name="adj" fmla="val 32000"/>
            </a:avLst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_shield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1572768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58400" y="1591056"/>
            <a:ext cx="1947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GUARDRAIL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1810512"/>
            <a:ext cx="1874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7D3E8"/>
                </a:solidFill>
                <a:latin typeface="Segoe UI"/>
              </a:rPr>
              <a:t>Criteria 1 and 3 hard constraints; criterion 2 maximised. Grid-searched over 1,219 points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487168"/>
            <a:ext cx="4160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487168"/>
            <a:ext cx="4160520" cy="2743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2491740"/>
            <a:ext cx="3941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ALGORITHM  ·  SELECTED ON HOLDOUT, NOT ON CV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852928"/>
            <a:ext cx="3941063" cy="224028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852928"/>
            <a:ext cx="1463040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6326B"/>
                </a:solidFill>
                <a:latin typeface="Segoe U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52928"/>
            <a:ext cx="868680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6326B"/>
                </a:solidFill>
                <a:latin typeface="Segoe UI"/>
              </a:rPr>
              <a:t>CV AUC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852928"/>
            <a:ext cx="1188720" cy="224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6326B"/>
                </a:solidFill>
                <a:latin typeface="Segoe UI"/>
              </a:rPr>
              <a:t>HOLDOUT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3076956"/>
            <a:ext cx="3941063" cy="141732"/>
          </a:xfrm>
          <a:prstGeom prst="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076956"/>
            <a:ext cx="1572768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LightGBM</a:t>
            </a:r>
            <a:r>
              <a:rPr sz="650" b="1" i="0">
                <a:solidFill>
                  <a:srgbClr val="178338"/>
                </a:solidFill>
                <a:latin typeface="Segoe UI"/>
              </a:rPr>
              <a:t>  SELECTED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076956"/>
            <a:ext cx="86868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A2233"/>
                </a:solidFill>
                <a:latin typeface="Segoe UI"/>
              </a:rPr>
              <a:t>0.625 ±0.007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3076956"/>
            <a:ext cx="118872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0.624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218688"/>
            <a:ext cx="1572768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Logistic regression, L2</a:t>
            </a:r>
            <a:r>
              <a:rPr sz="650" b="1" i="0">
                <a:solidFill>
                  <a:srgbClr val="178338"/>
                </a:solidFill>
                <a:latin typeface="Segoe U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218688"/>
            <a:ext cx="86868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0.636 ±0.002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3218688"/>
            <a:ext cx="118872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0.608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360420"/>
            <a:ext cx="1572768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Random forest</a:t>
            </a:r>
            <a:r>
              <a:rPr sz="650" b="1" i="0">
                <a:solidFill>
                  <a:srgbClr val="178338"/>
                </a:solidFill>
                <a:latin typeface="Segoe U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360420"/>
            <a:ext cx="86868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0.630 ±0.006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1800" y="3360420"/>
            <a:ext cx="118872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0.587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502152"/>
            <a:ext cx="1572768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Rank-average ensemble</a:t>
            </a:r>
            <a:r>
              <a:rPr sz="650" b="1" i="0">
                <a:solidFill>
                  <a:srgbClr val="178338"/>
                </a:solidFill>
                <a:latin typeface="Segoe U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502152"/>
            <a:ext cx="86868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0.648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1800" y="3502152"/>
            <a:ext cx="118872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0.617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643884"/>
            <a:ext cx="1572768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Bureau score alone</a:t>
            </a:r>
            <a:r>
              <a:rPr sz="650" b="1" i="0">
                <a:solidFill>
                  <a:srgbClr val="178338"/>
                </a:solidFill>
                <a:latin typeface="Segoe U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643884"/>
            <a:ext cx="86868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0.563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3643884"/>
            <a:ext cx="1188720" cy="141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A2233"/>
                </a:solidFill>
                <a:latin typeface="Segoe UI"/>
              </a:rPr>
              <a:t>0.564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3803904"/>
            <a:ext cx="3794759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6326B"/>
                </a:solidFill>
                <a:latin typeface="Segoe UI"/>
              </a:rPr>
              <a:t>TOP DRIVERS OF 30+ DPD IN MOB 1-6  (LightGBM split gain)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3936492"/>
            <a:ext cx="91440" cy="91440"/>
          </a:xfrm>
          <a:prstGeom prst="roundRect">
            <a:avLst>
              <a:gd name="adj" fmla="val 30000"/>
            </a:avLst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936492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3931920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Median EMI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4041648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4037076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Age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146804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146804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4142232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Max credit amount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4251960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4251960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4247388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Total enquiry amount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54579" y="3936492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54579" y="3936492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91739" y="3931920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External bureau score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54579" y="4041648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54579" y="4041648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91739" y="4037076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Avg enquiry amount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354579" y="4146804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54579" y="4146804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91739" y="4142232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Median enquiry amount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354579" y="4251960"/>
            <a:ext cx="91440" cy="91440"/>
          </a:xfrm>
          <a:prstGeom prst="roundRect">
            <a:avLst>
              <a:gd name="adj" fmla="val 30000"/>
            </a:avLst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54579" y="4251960"/>
            <a:ext cx="9144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6326B"/>
                </a:solidFill>
                <a:latin typeface="Segoe U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91739" y="4247388"/>
            <a:ext cx="1737360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A2233"/>
                </a:solidFill>
                <a:latin typeface="Segoe UI"/>
              </a:rPr>
              <a:t>Credit amount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17136" y="2487168"/>
            <a:ext cx="35204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17136" y="2487168"/>
            <a:ext cx="3520440" cy="27432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26864" y="2491740"/>
            <a:ext cx="33009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EVALUATION METRIC AND ITERATION LADDER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26864" y="2816352"/>
            <a:ext cx="3300984" cy="219456"/>
          </a:xfrm>
          <a:prstGeom prst="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626864" y="2816352"/>
            <a:ext cx="45720" cy="219456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54879" y="2825496"/>
            <a:ext cx="15727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A34A"/>
                </a:solidFill>
                <a:latin typeface="Segoe UI"/>
              </a:rPr>
              <a:t>C1 </a:t>
            </a:r>
            <a:r>
              <a:rPr sz="800" b="0" i="0">
                <a:solidFill>
                  <a:srgbClr val="1A2233"/>
                </a:solidFill>
                <a:latin typeface="Segoe UI"/>
              </a:rPr>
              <a:t>Overall not lower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2816352"/>
            <a:ext cx="3840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30%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5119" y="2816352"/>
            <a:ext cx="5669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1.004x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05471" y="2816352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A34A"/>
                </a:solidFill>
                <a:latin typeface="Segoe UI"/>
              </a:rPr>
              <a:t>100 / 100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26864" y="3054096"/>
            <a:ext cx="3300984" cy="219456"/>
          </a:xfrm>
          <a:prstGeom prst="rect">
            <a:avLst/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626864" y="3054096"/>
            <a:ext cx="45720" cy="219456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79" y="3063239"/>
            <a:ext cx="15727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930C"/>
                </a:solidFill>
                <a:latin typeface="Segoe UI"/>
              </a:rPr>
              <a:t>C2 </a:t>
            </a:r>
            <a:r>
              <a:rPr sz="800" b="0" i="0">
                <a:solidFill>
                  <a:srgbClr val="1A2233"/>
                </a:solidFill>
                <a:latin typeface="Segoe UI"/>
              </a:rPr>
              <a:t>Riskier offered less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0216" y="3054096"/>
            <a:ext cx="3840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40%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75119" y="3054096"/>
            <a:ext cx="5669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0.815x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05471" y="3054096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930C"/>
                </a:solidFill>
                <a:latin typeface="Segoe UI"/>
              </a:rPr>
              <a:t>74 / 100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626864" y="3291840"/>
            <a:ext cx="3300984" cy="219456"/>
          </a:xfrm>
          <a:prstGeom prst="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626864" y="3291840"/>
            <a:ext cx="45720" cy="219456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54879" y="3300984"/>
            <a:ext cx="15727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A34A"/>
                </a:solidFill>
                <a:latin typeface="Segoe UI"/>
              </a:rPr>
              <a:t>C3 </a:t>
            </a:r>
            <a:r>
              <a:rPr sz="800" b="0" i="0">
                <a:solidFill>
                  <a:srgbClr val="1A2233"/>
                </a:solidFill>
                <a:latin typeface="Segoe UI"/>
              </a:rPr>
              <a:t>Converters not lower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0216" y="3291840"/>
            <a:ext cx="38404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30%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75119" y="3291840"/>
            <a:ext cx="5669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1.006x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05471" y="3291840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A34A"/>
                </a:solidFill>
                <a:latin typeface="Segoe UI"/>
              </a:rPr>
              <a:t>100 / 100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45151" y="3547872"/>
            <a:ext cx="326440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8A94A6"/>
                </a:solidFill>
                <a:latin typeface="Segoe UI"/>
              </a:rPr>
              <a:t>C1 / C3: 100 if R ≥ 0.98, else 100×max(0, 1−(0.98−R)÷0.20)     C2: 100×min(1, (1−R)÷0.25)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26864" y="3675888"/>
            <a:ext cx="3300984" cy="256032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36592" y="3675888"/>
            <a:ext cx="822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DDC7B"/>
                </a:solidFill>
                <a:latin typeface="Segoe UI"/>
              </a:rPr>
              <a:t>89.6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59551" y="3675888"/>
            <a:ext cx="1097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C7D3E8"/>
                </a:solidFill>
                <a:latin typeface="Segoe UI"/>
              </a:rPr>
              <a:t>WEIGHTED SCORE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vs 60.0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56831" y="3675888"/>
            <a:ext cx="11612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C7D3E8"/>
                </a:solidFill>
                <a:latin typeface="Segoe UI"/>
              </a:rPr>
              <a:t>Bootstrap 95% CI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78.1-99.3</a:t>
            </a:r>
            <a:r>
              <a:rPr sz="600" b="0" i="0">
                <a:solidFill>
                  <a:srgbClr val="C7D3E8"/>
                </a:solidFill>
                <a:latin typeface="Segoe UI"/>
              </a:rPr>
              <a:t>  (500 resamples)</a:t>
            </a:r>
          </a:p>
        </p:txBody>
      </p:sp>
      <p:pic>
        <p:nvPicPr>
          <p:cNvPr id="112" name="Picture 111" descr="chart_lad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1" y="3968496"/>
            <a:ext cx="2962656" cy="393192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8119871" y="2487168"/>
            <a:ext cx="37947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119871" y="2487168"/>
            <a:ext cx="37947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599" y="2491740"/>
            <a:ext cx="3575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4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HOLDOUT  ·  RISK FALLS AS THE OFFER RISES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47888" y="2834640"/>
            <a:ext cx="353872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5,203 VALIDATION customers who took a PL. Policy fitted only on TEST.</a:t>
            </a:r>
          </a:p>
        </p:txBody>
      </p:sp>
      <p:pic>
        <p:nvPicPr>
          <p:cNvPr id="117" name="Picture 116" descr="chart_hold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2980944"/>
            <a:ext cx="3355848" cy="101041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8247888" y="4023360"/>
            <a:ext cx="3538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Monotone, 2.9x gradient. Spearman ρ = -0.052, p = 0.00019. 72 events, so adjacent quintiles are NOT separable: the intervals say so.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517136"/>
            <a:ext cx="338328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4320" y="4517136"/>
            <a:ext cx="3383280" cy="2743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84048" y="4521708"/>
            <a:ext cx="31638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5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REDISTRIBUTION  ·  SAME BOOK, DIFFERENT SHAPE</a:t>
            </a:r>
          </a:p>
        </p:txBody>
      </p:sp>
      <p:pic>
        <p:nvPicPr>
          <p:cNvPr id="122" name="Picture 121" descr="imag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4882896"/>
            <a:ext cx="3127248" cy="655624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420623" y="5596128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Total book (Cr)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35024" y="5596128"/>
            <a:ext cx="630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₹2,138→2,169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3" y="5742432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Net change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35024" y="5742432"/>
            <a:ext cx="630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+1.5%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0623" y="5888736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Offered more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35024" y="5888736"/>
            <a:ext cx="630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37.0%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12264" y="5596128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Offered less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026664" y="5596128"/>
            <a:ext cx="630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59.4%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12264" y="5742432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Over capacity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026664" y="5742432"/>
            <a:ext cx="630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52.5% → 41.8%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12264" y="5888736"/>
            <a:ext cx="9144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Median coverage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26664" y="5888736"/>
            <a:ext cx="630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A2233"/>
                </a:solidFill>
                <a:latin typeface="Segoe UI"/>
              </a:rPr>
              <a:t>1.85x → 1.32x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730752" y="4517136"/>
            <a:ext cx="29718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730752" y="4517136"/>
            <a:ext cx="2971800" cy="27432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40480" y="4521708"/>
            <a:ext cx="2752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6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DECISION RULES  ·  WHEN IT SAYS NOT YET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840480" y="4882896"/>
            <a:ext cx="548640" cy="146304"/>
          </a:xfrm>
          <a:prstGeom prst="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840480" y="4882896"/>
            <a:ext cx="5486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FA34A"/>
                </a:solidFill>
                <a:latin typeface="Segoe UI"/>
              </a:rPr>
              <a:t>RAISE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62272" y="4864608"/>
            <a:ext cx="2130552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Coverage &lt; 1.0x and low risk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to the capacity ceiling; the growth sits here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840480" y="5088636"/>
            <a:ext cx="548640" cy="146304"/>
          </a:xfrm>
          <a:prstGeom prst="rect">
            <a:avLst/>
          </a:prstGeom>
          <a:solidFill>
            <a:srgbClr val="FD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840480" y="5088636"/>
            <a:ext cx="5486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E8930C"/>
                </a:solidFill>
                <a:latin typeface="Segoe UI"/>
              </a:rPr>
              <a:t>TRIM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462272" y="5070348"/>
            <a:ext cx="2130552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Coverage 1.0-2.0x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toward capacity; tenure and pricing unchanged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840480" y="5294376"/>
            <a:ext cx="548640" cy="146304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840480" y="5294376"/>
            <a:ext cx="5486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C0392B"/>
                </a:solidFill>
                <a:latin typeface="Segoe UI"/>
              </a:rPr>
              <a:t>CUT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462272" y="5276088"/>
            <a:ext cx="2130552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Coverage &gt; 2.0x, any risk band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to the capacity ceiling; it was never serviceable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840480" y="5500116"/>
            <a:ext cx="548640" cy="146304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840480" y="5500116"/>
            <a:ext cx="5486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4B5B75"/>
                </a:solidFill>
                <a:latin typeface="Segoe UI"/>
              </a:rPr>
              <a:t>HOLD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62272" y="5481828"/>
            <a:ext cx="2130552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No demonstrated headroom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at incumbent; says not yet, not no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840480" y="5705856"/>
            <a:ext cx="548640" cy="146304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840480" y="5705856"/>
            <a:ext cx="54864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6326B"/>
                </a:solidFill>
                <a:latin typeface="Segoe UI"/>
              </a:rPr>
              <a:t>FLOOR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462272" y="5687568"/>
            <a:ext cx="2130552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A2233"/>
                </a:solidFill>
                <a:latin typeface="Segoe UI"/>
              </a:rPr>
              <a:t>Top risk decile</a:t>
            </a:r>
          </a:p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B5B75"/>
                </a:solidFill>
                <a:latin typeface="Segoe UI"/>
              </a:rPr>
              <a:t>floors at 0.30x whatever the capacity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775704" y="4517136"/>
            <a:ext cx="2852928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775704" y="4517136"/>
            <a:ext cx="2852928" cy="2743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885432" y="4521708"/>
            <a:ext cx="2633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7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EXPECTED BENEFIT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03720" y="4864608"/>
            <a:ext cx="2596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326B"/>
                </a:solidFill>
                <a:latin typeface="Segoe UI"/>
              </a:rPr>
              <a:t>Convert the under-offered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: 808 asked for more, same capacity as the base, 0% converted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03720" y="5111496"/>
            <a:ext cx="2596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326B"/>
                </a:solidFill>
                <a:latin typeface="Segoe UI"/>
              </a:rPr>
              <a:t>Stop leaking large tickets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: off-us take-up climbs 1.1% → 7.1% with offer size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03720" y="5358384"/>
            <a:ext cx="2596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326B"/>
                </a:solidFill>
                <a:latin typeface="Segoe UI"/>
              </a:rPr>
              <a:t>Contain early delinquency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: 18.5% smaller offers to 30+ DPD, at no cost to the average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903720" y="5605272"/>
            <a:ext cx="2596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326B"/>
                </a:solidFill>
                <a:latin typeface="Segoe UI"/>
              </a:rPr>
              <a:t>Spend nothing extra</a:t>
            </a:r>
            <a:r>
              <a:rPr sz="700" b="0" i="0">
                <a:solidFill>
                  <a:srgbClr val="4B5B75"/>
                </a:solidFill>
                <a:latin typeface="Segoe UI"/>
              </a:rPr>
              <a:t>: overall average 1.004x; the book is redistributed, not inflated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701784" y="4517136"/>
            <a:ext cx="2212848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701784" y="4517136"/>
            <a:ext cx="2212848" cy="274320"/>
          </a:xfrm>
          <a:prstGeom prst="rect">
            <a:avLst/>
          </a:prstGeom>
          <a:solidFill>
            <a:srgbClr val="163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811512" y="4521708"/>
            <a:ext cx="19933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8</a:t>
            </a:r>
            <a:r>
              <a:rPr sz="950" b="1" i="0">
                <a:solidFill>
                  <a:srgbClr val="FFFFFF"/>
                </a:solidFill>
                <a:latin typeface="Segoe UI"/>
              </a:rPr>
              <a:t>  SENSITIVITY</a:t>
            </a:r>
          </a:p>
        </p:txBody>
      </p:sp>
      <p:pic>
        <p:nvPicPr>
          <p:cNvPr id="163" name="Picture 162" descr="chart_heat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2368" y="4882896"/>
            <a:ext cx="2011680" cy="475488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9802368" y="5376672"/>
            <a:ext cx="201168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B5B75"/>
                </a:solidFill>
                <a:latin typeface="Segoe UI"/>
              </a:rPr>
              <a:t>multiplier grid: score 49.6-89.6, median 77.9</a:t>
            </a:r>
          </a:p>
        </p:txBody>
      </p:sp>
      <p:pic>
        <p:nvPicPr>
          <p:cNvPr id="165" name="Picture 164" descr="chart_annuit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2368" y="5468112"/>
            <a:ext cx="2011680" cy="347472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802368" y="5833872"/>
            <a:ext cx="201168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B5B75"/>
                </a:solidFill>
                <a:latin typeface="Segoe UI"/>
              </a:rPr>
              <a:t>pricing: 86.7-93.4 across every scenario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5925312"/>
            <a:ext cx="5120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74320" y="5925312"/>
            <a:ext cx="5120640" cy="201168"/>
          </a:xfrm>
          <a:prstGeom prst="rect">
            <a:avLst/>
          </a:prstGeom>
          <a:solidFill>
            <a:srgbClr val="E89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84048" y="5929884"/>
            <a:ext cx="4901183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ROLLOUT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4048" y="6172200"/>
            <a:ext cx="3657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8930C"/>
                </a:solidFill>
                <a:latin typeface="Segoe UI"/>
              </a:rPr>
              <a:t>M1-2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68096" y="6172200"/>
            <a:ext cx="215798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A2233"/>
                </a:solidFill>
                <a:latin typeface="Segoe UI"/>
              </a:rPr>
              <a:t>Freeze barred-field list; ship the capacity feature store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907791" y="6172200"/>
            <a:ext cx="3657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8930C"/>
                </a:solidFill>
                <a:latin typeface="Segoe UI"/>
              </a:rPr>
              <a:t>M3-4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291839" y="6172200"/>
            <a:ext cx="215798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A2233"/>
                </a:solidFill>
                <a:latin typeface="Segoe UI"/>
              </a:rPr>
              <a:t>Champion/challenger on 20% of the pre-approved base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84048" y="6355080"/>
            <a:ext cx="3657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8930C"/>
                </a:solidFill>
                <a:latin typeface="Segoe UI"/>
              </a:rPr>
              <a:t>M5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8096" y="6355080"/>
            <a:ext cx="215798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A2233"/>
                </a:solidFill>
                <a:latin typeface="Segoe UI"/>
              </a:rPr>
              <a:t>Instrument coverage and off-us leakage as standing KPIs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907791" y="6355080"/>
            <a:ext cx="3657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E8930C"/>
                </a:solidFill>
                <a:latin typeface="Segoe UI"/>
              </a:rPr>
              <a:t>M6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291839" y="6355080"/>
            <a:ext cx="2157984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1A2233"/>
                </a:solidFill>
                <a:latin typeface="Segoe UI"/>
              </a:rPr>
              <a:t>Extend to cohort C via consented cash-flow data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513831" y="5925312"/>
            <a:ext cx="6400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513831" y="5925312"/>
            <a:ext cx="64008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623559" y="5929884"/>
            <a:ext cx="6181344" cy="192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WHAT WE WILL NOT CLAIM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623559" y="6197803"/>
            <a:ext cx="45720" cy="457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724144" y="6172200"/>
            <a:ext cx="607161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216 training events. Holdout AUC 0.624 is honest, not impressive: every claim is sized to it.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623559" y="6289243"/>
            <a:ext cx="45720" cy="457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724144" y="6263640"/>
            <a:ext cx="607161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Adjacent quintiles are not separable on 72 events. We show the intervals rather than hide them.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623559" y="6380683"/>
            <a:ext cx="45720" cy="457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724144" y="6355080"/>
            <a:ext cx="607161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The risk model is fitted on the 13.9% who took a loan. Generalising to non-takers is untested.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623559" y="6472123"/>
            <a:ext cx="45720" cy="457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724144" y="6446520"/>
            <a:ext cx="607161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A2233"/>
                </a:solidFill>
                <a:latin typeface="Segoe UI"/>
              </a:rPr>
              <a:t>40.6% of customers show no demonstrated EMI headroom and fall back to the incumbent offer, unchanged.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9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74320" y="6615684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A94A6"/>
                </a:solidFill>
                <a:latin typeface="Segoe UI"/>
              </a:rPr>
              <a:t>SOURCE: Build BASE_TYPE=TEST &amp; ONUS_DISB, n = 16,621, 216 risk events. Holdout BASE_TYPE=VALIDATION &amp; ONUS_DISB, n = 5,203, 72 events, never used in fitting or selection. All build-cohort scores computed out-of-fold. GOVERNANCE: the six risk-event flags, CATEGORY_NEW and all three call-centre outcome fields are excluded from the offer logic, as the data dictionary instructs. ASSUMPTION (ours): annuity factor 24% p.a. / 36 months; the score holds between 86.7 and 93.4 across 20-28% p.a. and 24-48 months.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424160" y="6615684"/>
            <a:ext cx="14904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B5B75"/>
                </a:solidFill>
                <a:latin typeface="Segoe UI"/>
              </a:rPr>
              <a:t>PAGE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